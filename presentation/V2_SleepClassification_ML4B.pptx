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05" d="100"/>
          <a:sy n="205" d="100"/>
        </p:scale>
        <p:origin x="45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0315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Classification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Machine Learning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2359152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Schlafphasen aus Smartphone-Sensordaten klassifizieren — validiert gegen Samsung Health Ground Truth.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3218688"/>
            <a:ext cx="2560320" cy="1389888"/>
          </a:xfrm>
          <a:prstGeom prst="roundRect">
            <a:avLst>
              <a:gd name="adj" fmla="val 6579"/>
            </a:avLst>
          </a:prstGeom>
          <a:solidFill>
            <a:srgbClr val="1E2A3F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21792" y="3346704"/>
            <a:ext cx="219456" cy="21945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32688" y="331927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Accuracy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21792" y="361188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98.5 %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21792" y="411480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 + gyro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91840" y="3218688"/>
            <a:ext cx="2560320" cy="1389888"/>
          </a:xfrm>
          <a:prstGeom prst="roundRect">
            <a:avLst>
              <a:gd name="adj" fmla="val 6579"/>
            </a:avLst>
          </a:prstGeom>
          <a:solidFill>
            <a:srgbClr val="1E2A3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456432" y="3346704"/>
            <a:ext cx="219456" cy="219456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767328" y="331927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4-Phasen Bal. Acc.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456432" y="361188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456432" y="411480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Zufallsniveau 0.25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26480" y="3218688"/>
            <a:ext cx="2560320" cy="1389888"/>
          </a:xfrm>
          <a:prstGeom prst="roundRect">
            <a:avLst>
              <a:gd name="adj" fmla="val 6579"/>
            </a:avLst>
          </a:prstGeom>
          <a:solidFill>
            <a:srgbClr val="1E2A3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91072" y="3346704"/>
            <a:ext cx="219456" cy="219456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601968" y="331927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Echte Nächte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91072" y="361188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+ 5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291072" y="411480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· Huawei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8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FRAMING &amp; MOTIVATION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Problem &amp; unser Ansatz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217920" y="347472"/>
            <a:ext cx="1417320" cy="1115568"/>
          </a:xfrm>
          <a:prstGeom prst="roundRect">
            <a:avLst>
              <a:gd name="adj" fmla="val 8197"/>
            </a:avLst>
          </a:prstGeom>
          <a:solidFill>
            <a:srgbClr val="1E2A3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217920" y="475488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98 %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217920" y="95097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besitzen Smartphone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772400" y="347472"/>
            <a:ext cx="1005840" cy="1115568"/>
          </a:xfrm>
          <a:prstGeom prst="roundRect">
            <a:avLst>
              <a:gd name="adj" fmla="val 9091"/>
            </a:avLst>
          </a:prstGeom>
          <a:solidFill>
            <a:srgbClr val="1E2A3F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0" y="475488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0" y="95097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Smartwatch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760" y="1261872"/>
            <a:ext cx="4069080" cy="1389888"/>
          </a:xfrm>
          <a:prstGeom prst="roundRect">
            <a:avLst>
              <a:gd name="adj" fmla="val 7895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889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66928" y="1389888"/>
            <a:ext cx="347472" cy="347472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24128" y="138988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1737360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Verlässliche Schlaftracking-Apps ohne Wearable fehlen — und bestehende Apps haben kaum empirische Evidenz (Ananth, 2021).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1261872"/>
            <a:ext cx="4114800" cy="1389888"/>
          </a:xfrm>
          <a:prstGeom prst="roundRect">
            <a:avLst>
              <a:gd name="adj" fmla="val 7895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889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846320" y="1389888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03520" y="138988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Unsere Lösung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173736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</a:t>
            </a: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klassifiziert Schlafzustände aus 100-Hz Beschleunigungsdaten — validiert mit echtem Samsung Health sleep_stage Export als Ground Truth.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2798064"/>
            <a:ext cx="8412480" cy="1755648"/>
          </a:xfrm>
          <a:prstGeom prst="roundRect">
            <a:avLst>
              <a:gd name="adj" fmla="val 6250"/>
            </a:avLst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  <a:effectLst>
            <a:outerShdw blurRad="889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66928" y="292608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24128" y="2926080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Forschungsfragen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6928" y="3291840"/>
            <a:ext cx="7955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  </a:t>
            </a: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Kann Smartphone-Accelerometer Wach vs. Schlaf mit ≥ 75 % Accuracy klassifizieren?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  </a:t>
            </a: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Lässt sich Schlafdauer und -qualität valide aus Sensordaten schätzen, validiert gegen Smartwatch-Daten?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  </a:t>
            </a: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ist die physiologische Grenze der 4-Phasen-Klassifikation ohne Herzfrequenz?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487375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Sieberuni · manmago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00400" y="4873752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Classification · ML4B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955280" y="487375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8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DATA UNDERSTANDING &amp; PREPARATION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Rohdaten zu Features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170432"/>
            <a:ext cx="4114800" cy="164592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889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66928" y="1298448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24128" y="12984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 — Huawei (Binary)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1627632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Nächte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Accelerometer + Gyroscope · 64 Features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Labels: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Huawei Health (Bett-Intervalle) + manuelle Annotation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Ziel: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WACH vs. SCHLAF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170432"/>
            <a:ext cx="4114800" cy="164592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889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46320" y="1298448"/>
            <a:ext cx="347472" cy="34747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303520" y="12984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 — Samsung (4-Phasen)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627632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Nächte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Accelerometer only · 32 Features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Labels: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Samsung Health sleep_stage CSV (echte Ground Truth)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Ziel:</a:t>
            </a: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WACH / LEICHT / TIEF / REM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9077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&amp; Feature-Pipeline (Samsung-Track)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246120"/>
            <a:ext cx="1261872" cy="822960"/>
          </a:xfrm>
          <a:prstGeom prst="roundRect">
            <a:avLst>
              <a:gd name="adj" fmla="val 888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" y="331012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38912" y="3493008"/>
            <a:ext cx="11521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Logger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(100 Hz)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627632" y="3657600"/>
            <a:ext cx="128016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755648" y="3246120"/>
            <a:ext cx="1261872" cy="822960"/>
          </a:xfrm>
          <a:prstGeom prst="roundRect">
            <a:avLst>
              <a:gd name="adj" fmla="val 888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828800" y="331012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828800" y="3493008"/>
            <a:ext cx="11521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017520" y="3657600"/>
            <a:ext cx="128016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145536" y="3246120"/>
            <a:ext cx="1261872" cy="822960"/>
          </a:xfrm>
          <a:prstGeom prst="roundRect">
            <a:avLst>
              <a:gd name="adj" fmla="val 888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18688" y="331012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18688" y="3493008"/>
            <a:ext cx="11521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 Epochen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407408" y="3657600"/>
            <a:ext cx="128016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35424" y="3246120"/>
            <a:ext cx="1261872" cy="822960"/>
          </a:xfrm>
          <a:prstGeom prst="roundRect">
            <a:avLst>
              <a:gd name="adj" fmla="val 888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608576" y="331012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08576" y="3493008"/>
            <a:ext cx="11521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Features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Epoche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797296" y="3657600"/>
            <a:ext cx="128016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925312" y="3246120"/>
            <a:ext cx="1261872" cy="822960"/>
          </a:xfrm>
          <a:prstGeom prst="roundRect">
            <a:avLst>
              <a:gd name="adj" fmla="val 888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998464" y="331012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998464" y="3493008"/>
            <a:ext cx="11521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Labels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187184" y="3657600"/>
            <a:ext cx="128016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315200" y="3246120"/>
            <a:ext cx="1261872" cy="822960"/>
          </a:xfrm>
          <a:prstGeom prst="roundRect">
            <a:avLst>
              <a:gd name="adj" fmla="val 88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388352" y="331012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388352" y="3493008"/>
            <a:ext cx="11521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Evaluation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65760" y="487375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Sieberuni · manmago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200400" y="4873752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Classification · ML4B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955280" y="487375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8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MODELING &amp; EVALUATION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 Modelle — und warum 4 Phasen scheitern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F0FDF9"/>
          </a:solidFill>
          <a:ln w="15240">
            <a:solidFill>
              <a:srgbClr val="0D9488"/>
            </a:solidFill>
            <a:prstDash val="solid"/>
          </a:ln>
          <a:effectLst>
            <a:outerShdw blurRad="889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126187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0.985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755648" y="1298448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·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Huawei (accel+gyro) — 64 Features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FFF7ED"/>
          </a:solidFill>
          <a:ln w="15240">
            <a:solidFill>
              <a:srgbClr val="DC2626"/>
            </a:solidFill>
            <a:prstDash val="solid"/>
          </a:ln>
          <a:effectLst>
            <a:outerShdw blurRad="889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0352" y="199339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0.24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755648" y="2029968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BAL. ACC. ·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4-Phasen Samsung (accel only) — 32 Features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651760"/>
            <a:ext cx="406908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  <a:effectLst>
            <a:outerShdw blurRad="889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0352" y="272491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755648" y="2761488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BAL. ACC. ·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Samsung, in-night Wach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340156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Modelle: Leave-One-Night-Out (GroupKFold, 5 Folds)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1170432"/>
            <a:ext cx="4114800" cy="3401568"/>
          </a:xfrm>
          <a:prstGeom prst="roundRect">
            <a:avLst>
              <a:gd name="adj" fmla="val 3226"/>
            </a:avLst>
          </a:prstGeom>
          <a:solidFill>
            <a:srgbClr val="FEF9F9"/>
          </a:solidFill>
          <a:ln w="6350">
            <a:solidFill>
              <a:srgbClr val="CBD5E1"/>
            </a:solidFill>
            <a:prstDash val="solid"/>
          </a:ln>
          <a:effectLst>
            <a:outerShdw blurRad="889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63440" y="1170432"/>
            <a:ext cx="4114800" cy="402336"/>
          </a:xfrm>
          <a:prstGeom prst="roundRect">
            <a:avLst>
              <a:gd name="adj" fmla="val 2727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36592" y="1188720"/>
            <a:ext cx="3950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scheitert 4-Phasen-Klassifikation?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16642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779008" y="16642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Accelerometer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986016" y="166420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fehlt dem Sensor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09160" y="1883664"/>
            <a:ext cx="39319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54880" y="1993392"/>
            <a:ext cx="201168" cy="201168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92624" y="197510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779008" y="197510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HOCH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86016" y="1975104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2523744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92624" y="250545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Leichtschlaf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779008" y="2505456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NULL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86016" y="2505456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Schlafspindeln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2944368"/>
            <a:ext cx="39319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54880" y="3054096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92624" y="303580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Tiefschlaf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779008" y="303580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NULL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986016" y="3035808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Delta-Wellen (EEG)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3584448"/>
            <a:ext cx="201168" cy="20116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992624" y="356616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779008" y="356616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NULL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986016" y="3566160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Augenbewegung + EEG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09160" y="4096512"/>
            <a:ext cx="3931920" cy="384048"/>
          </a:xfrm>
          <a:prstGeom prst="roundRect">
            <a:avLst>
              <a:gd name="adj" fmla="val 16667"/>
            </a:avLst>
          </a:prstGeom>
          <a:solidFill>
            <a:srgbClr val="0C1222"/>
          </a:solidFill>
          <a:ln w="12700">
            <a:solidFill>
              <a:srgbClr val="0C1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73168" y="413308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Tief, Leicht &amp; REM sind für den Beschleunigungssensor identisch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65760" y="3739896"/>
            <a:ext cx="4069080" cy="384048"/>
          </a:xfrm>
          <a:prstGeom prst="roundRect">
            <a:avLst>
              <a:gd name="adj" fmla="val 16667"/>
            </a:avLst>
          </a:prstGeom>
          <a:solidFill>
            <a:srgbClr val="0C1222"/>
          </a:solidFill>
          <a:ln w="12700">
            <a:solidFill>
              <a:srgbClr val="0C1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38912" y="377647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 beantwortet: physiologische Grenze ohne Herzfrequenz / EEG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65760" y="487375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Sieberuni · manmago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200400" y="4873752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Classification · ML4B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955280" y="487375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8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DISKUSSION &amp; AUSBLICK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Erkenntnisse, Grenzen, Ausblick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207008"/>
            <a:ext cx="2468880" cy="2606040"/>
          </a:xfrm>
          <a:prstGeom prst="roundRect">
            <a:avLst>
              <a:gd name="adj" fmla="val 4444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889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2468880" cy="438912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5488" y="122529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Erkenntnisse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1755648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Binary (in-bed) → 98.5 % Accuracy — RQ1 klar erfüllt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2249424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4-Phasen ~Zufall (0.24) — RQ3 ehrlich beantwortet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743200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Samsung Health: Game Changer als Ground Truth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3236976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Negative Befunde transparent dokumentiert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035808" y="1207008"/>
            <a:ext cx="2468880" cy="2606040"/>
          </a:xfrm>
          <a:prstGeom prst="roundRect">
            <a:avLst>
              <a:gd name="adj" fmla="val 4444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889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035808" y="1207008"/>
            <a:ext cx="2468880" cy="438912"/>
          </a:xfrm>
          <a:prstGeom prst="roundRect">
            <a:avLst>
              <a:gd name="adj" fmla="val 25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145536" y="122529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Limitationen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172968" y="1755648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5 Nächte pro Track, 1–2 Personen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172968" y="2249424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Samsung schätzt selbst — kein EEG-Goldstandard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172968" y="2743200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Samsung-Track ohne Gyroscope (32 statt 64 Features)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172968" y="3236976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In-Night-Wach vom Sensor kaum erkennbar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705856" y="1207008"/>
            <a:ext cx="2468880" cy="2606040"/>
          </a:xfrm>
          <a:prstGeom prst="roundRect">
            <a:avLst>
              <a:gd name="adj" fmla="val 4444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blurRad="889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705856" y="1207008"/>
            <a:ext cx="2468880" cy="438912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815584" y="122529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Future Work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843016" y="1755648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Herzfrequenz / HRV als fehlender Sensor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843016" y="2249424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FFT-Features (Frequenzdomäne)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843016" y="2743200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Mehr Personen &amp; Gerätetypen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843016" y="3236976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On-Device Deployment (Android API)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3950208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0C1222"/>
          </a:solidFill>
          <a:ln w="12700">
            <a:solidFill>
              <a:srgbClr val="0C1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66928" y="4059936"/>
            <a:ext cx="420624" cy="42062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66928" y="4059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C1222"/>
                </a:solidFill>
              </a:rPr>
              <a:t>▶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97280" y="407822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LIVE-DEMO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926080" y="407822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 Nacht aufnehmen  →  Upload (CSV / ZIP)  →  Schlafphasen-Vorhersage live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65760" y="487375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Sieberuni · manmago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00400" y="4873752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Classification · ML4B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955280" y="487375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541</Words>
  <Application>Microsoft Office PowerPoint</Application>
  <PresentationFormat>Bildschirmpräsentation (16:9)</PresentationFormat>
  <Paragraphs>119</Paragraphs>
  <Slides>5</Slides>
  <Notes>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Sleep Classification with Machine Learning</dc:title>
  <dc:subject>PptxGenJS Presentation</dc:subject>
  <dc:creator>PptxGenJS</dc:creator>
  <cp:lastModifiedBy>Itenberg, Alexandra</cp:lastModifiedBy>
  <cp:revision>1</cp:revision>
  <dcterms:created xsi:type="dcterms:W3CDTF">2026-06-25T18:26:09Z</dcterms:created>
  <dcterms:modified xsi:type="dcterms:W3CDTF">2026-06-25T18:55:27Z</dcterms:modified>
</cp:coreProperties>
</file>