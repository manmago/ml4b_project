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154" d="100"/>
          <a:sy n="154" d="100"/>
        </p:scale>
        <p:origin x="63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0" y="-594360"/>
            <a:ext cx="4297680" cy="4297680"/>
          </a:xfrm>
          <a:prstGeom prst="ellipse">
            <a:avLst/>
          </a:prstGeom>
          <a:solidFill>
            <a:srgbClr val="0D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00799" y="-868680"/>
            <a:ext cx="4937760" cy="4937760"/>
          </a:xfrm>
          <a:prstGeom prst="ellipse">
            <a:avLst/>
          </a:prstGeom>
          <a:noFill/>
          <a:ln w="2032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7999" y="365760"/>
            <a:ext cx="3108960" cy="3108960"/>
          </a:xfrm>
          <a:prstGeom prst="ellipse">
            <a:avLst/>
          </a:prstGeom>
          <a:noFill/>
          <a:ln w="177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92440" y="2971799"/>
            <a:ext cx="2011680" cy="2011680"/>
          </a:xfrm>
          <a:prstGeom prst="ellipse">
            <a:avLst/>
          </a:prstGeom>
          <a:noFill/>
          <a:ln w="1524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690371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3B82F6"/>
                </a:solidFill>
                <a:latin typeface="Calibri"/>
              </a:rPr>
              <a:t>ML4B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" y="1037843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400" b="1" i="0">
                <a:solidFill>
                  <a:srgbClr val="F0F4FF"/>
                </a:solidFill>
                <a:latin typeface="Cambria"/>
              </a:rPr>
              <a:t>Sleep Classification </a:t>
            </a:r>
            <a:r>
              <a:rPr sz="4400" b="1" i="0">
                <a:solidFill>
                  <a:srgbClr val="9FB4E8"/>
                </a:solidFill>
                <a:latin typeface="Cambria"/>
              </a:rPr>
              <a:t>with
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738627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 i="0">
                <a:solidFill>
                  <a:srgbClr val="94A3B8"/>
                </a:solidFill>
                <a:latin typeface="Calibri"/>
              </a:rPr>
              <a:t>Schlafphasen aus Smartphone-Sensordaten klassifizieren — 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0" i="0">
                <a:solidFill>
                  <a:srgbClr val="94A3B8"/>
                </a:solidFill>
                <a:latin typeface="Calibri"/>
              </a:rPr>
              <a:t>validiert gegen echte Samsung-Health-Labels.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4466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220">
                <a:solidFill>
                  <a:srgbClr val="06B6D4"/>
                </a:solidFill>
                <a:latin typeface="Calibri"/>
              </a:rPr>
              <a:t>VORGESTELLT VON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44466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0F4FF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91939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220">
                <a:solidFill>
                  <a:srgbClr val="06B6D4"/>
                </a:solidFill>
                <a:latin typeface="Calibri"/>
              </a:rPr>
              <a:t>MODELL &amp; PROJEKT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091939"/>
            <a:ext cx="6126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0F4FF"/>
                </a:solidFill>
                <a:latin typeface="Calibri"/>
              </a:rPr>
              <a:t>Mirani Sieber   &amp;   Alexandra Itenberg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8B5CF6"/>
                </a:solidFill>
                <a:latin typeface="Calibri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>
                <a:solidFill>
                  <a:srgbClr val="F0F4FF"/>
                </a:solidFill>
                <a:latin typeface="Cambria"/>
              </a:rPr>
              <a:t>Das Problem &amp; </a:t>
            </a:r>
            <a:r>
              <a:rPr sz="3400" b="1" i="0">
                <a:solidFill>
                  <a:srgbClr val="9FB4E8"/>
                </a:solidFill>
                <a:latin typeface="Cambria"/>
              </a:rPr>
              <a:t>unser Ansatz</a:t>
            </a:r>
          </a:p>
        </p:txBody>
      </p:sp>
      <p:pic>
        <p:nvPicPr>
          <p:cNvPr id="5" name="Picture 4" descr="cyc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6" y="310896"/>
            <a:ext cx="2461918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554480"/>
            <a:ext cx="3931920" cy="1188720"/>
          </a:xfrm>
          <a:prstGeom prst="roundRect">
            <a:avLst>
              <a:gd name="adj" fmla="val 7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6656" y="170992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1737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F4FF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Kaum jemand besitzt eine Smartwatch, fast jeder ein Smartphone — Schlaftracking ohne Wearable fehlt.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554480"/>
            <a:ext cx="3931920" cy="1188720"/>
          </a:xfrm>
          <a:prstGeom prst="roundRect">
            <a:avLst>
              <a:gd name="adj" fmla="val 7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82896" y="170992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1719072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1536" y="173736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F4FF"/>
                </a:solidFill>
                <a:latin typeface="Calibri"/>
              </a:rPr>
              <a:t>Unser Ansatz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17627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100" b="0" i="0">
                <a:solidFill>
                  <a:srgbClr val="94A3B8"/>
                </a:solidFill>
                <a:latin typeface="Calibri"/>
              </a:rPr>
              <a:t>Random Forest erkennt Schlaf aus 100-Hz-Beschleunigung, validiert gegen echte Samsung-Health-Labels.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626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 spc="260">
                <a:solidFill>
                  <a:srgbClr val="64748B"/>
                </a:solidFill>
                <a:latin typeface="Calibri"/>
              </a:rPr>
              <a:t>FORSCHUNGSFRAGEN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73552"/>
            <a:ext cx="3931920" cy="1225296"/>
          </a:xfrm>
          <a:prstGeom prst="roundRect">
            <a:avLst>
              <a:gd name="adj" fmla="val 6000"/>
            </a:avLst>
          </a:prstGeom>
          <a:solidFill>
            <a:srgbClr val="111840"/>
          </a:solidFill>
          <a:ln w="12700">
            <a:solidFill>
              <a:srgbClr val="2A3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3273552"/>
            <a:ext cx="1005840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3B82F6"/>
                </a:solidFill>
                <a:latin typeface="Cambria"/>
              </a:rPr>
              <a:t>RQ1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3273552"/>
            <a:ext cx="2487168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0" i="0">
                <a:solidFill>
                  <a:srgbClr val="F0F4FF"/>
                </a:solidFill>
                <a:latin typeface="Calibri"/>
              </a:rPr>
              <a:t>Wach vs. Schlaf aus dem Accelerometer mit ≥ 75 % Accuracy?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59" y="3273552"/>
            <a:ext cx="3931920" cy="1225296"/>
          </a:xfrm>
          <a:prstGeom prst="roundRect">
            <a:avLst>
              <a:gd name="adj" fmla="val 6000"/>
            </a:avLst>
          </a:prstGeom>
          <a:solidFill>
            <a:srgbClr val="111840"/>
          </a:solidFill>
          <a:ln w="12700">
            <a:solidFill>
              <a:srgbClr val="2A33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01768" y="3273552"/>
            <a:ext cx="1005840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8B5CF6"/>
                </a:solidFill>
                <a:latin typeface="Cambria"/>
              </a:rPr>
              <a:t>RQ2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6168" y="3273552"/>
            <a:ext cx="2487168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1300" b="0" i="0">
                <a:solidFill>
                  <a:srgbClr val="F0F4FF"/>
                </a:solidFill>
                <a:latin typeface="Calibri"/>
              </a:rPr>
              <a:t>Wo liegt die physiologische Grenze der 4-Phasen-Erkennung ohne Herzfrequenz?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82803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Sleep Classification · ML4B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06B6D4"/>
                </a:solidFill>
                <a:latin typeface="Calibri"/>
              </a:rPr>
              <a:t>DATA UNDERSTANDING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>
                <a:solidFill>
                  <a:srgbClr val="F0F4FF"/>
                </a:solidFill>
                <a:latin typeface="Cambria"/>
              </a:rPr>
              <a:t>Von Rohdaten </a:t>
            </a:r>
            <a:r>
              <a:rPr sz="3400" b="1" i="0">
                <a:solidFill>
                  <a:srgbClr val="9FB4E8"/>
                </a:solidFill>
                <a:latin typeface="Cambria"/>
              </a:rPr>
              <a:t>zu Features</a:t>
            </a:r>
          </a:p>
        </p:txBody>
      </p:sp>
      <p:pic>
        <p:nvPicPr>
          <p:cNvPr id="5" name="Picture 4" descr="cyc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538" y="310896"/>
            <a:ext cx="2597685" cy="11887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21208" y="1417320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41732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46304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F4FF"/>
                </a:solidFill>
                <a:latin typeface="Calibri"/>
              </a:rPr>
              <a:t>Data Understanding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01952"/>
            <a:ext cx="3931920" cy="731520"/>
          </a:xfrm>
          <a:prstGeom prst="roundRect">
            <a:avLst>
              <a:gd name="adj" fmla="val 8000"/>
            </a:avLst>
          </a:prstGeom>
          <a:solidFill>
            <a:srgbClr val="1A2356"/>
          </a:solidFill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6656" y="206654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39112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59E0B"/>
                </a:solidFill>
                <a:latin typeface="Calibri"/>
              </a:rPr>
              <a:t>Smartphone-Track · Huawei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22576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Accel + Gyroscope · grobe In-Bett-Labels · 5 Nächte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901952"/>
            <a:ext cx="3931920" cy="731520"/>
          </a:xfrm>
          <a:prstGeom prst="roundRect">
            <a:avLst>
              <a:gd name="adj" fmla="val 8000"/>
            </a:avLst>
          </a:prstGeom>
          <a:solidFill>
            <a:srgbClr val="1A2356"/>
          </a:solidFill>
          <a:ln w="1778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82896" y="2066544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48072" y="2039112"/>
            <a:ext cx="3291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3B82F6"/>
                </a:solidFill>
                <a:latin typeface="Calibri"/>
              </a:rPr>
              <a:t>Referenz-Track · Samsung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2322576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Calibri"/>
              </a:rPr>
              <a:t>Accel-only · echte Per-Fenster-Labels · 100 Hz · 5 Nächte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" y="2697480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269748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7432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0F4FF"/>
                </a:solidFill>
                <a:latin typeface="Calibri"/>
              </a:rPr>
              <a:t>Data Preparation — fünf Schritte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18688"/>
            <a:ext cx="1417319" cy="1078992"/>
          </a:xfrm>
          <a:prstGeom prst="roundRect">
            <a:avLst>
              <a:gd name="adj" fmla="val 10000"/>
            </a:avLst>
          </a:prstGeom>
          <a:solidFill>
            <a:srgbClr val="1A2356"/>
          </a:solidFill>
          <a:ln w="1778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" y="3364992"/>
            <a:ext cx="13075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F0F4FF"/>
                </a:solidFill>
                <a:latin typeface="Calibri"/>
              </a:rPr>
              <a:t>Data Cleaning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712464"/>
            <a:ext cx="12710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850" b="0" i="0">
                <a:solidFill>
                  <a:srgbClr val="94A3B8"/>
                </a:solidFill>
                <a:latin typeface="Calibri"/>
              </a:rPr>
              <a:t>Redundante Files raus · Watch-Labels manuell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39" y="3566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59" y="3218688"/>
            <a:ext cx="1417319" cy="1078992"/>
          </a:xfrm>
          <a:prstGeom prst="roundRect">
            <a:avLst>
              <a:gd name="adj" fmla="val 10000"/>
            </a:avLst>
          </a:prstGeom>
          <a:solidFill>
            <a:srgbClr val="1A2356"/>
          </a:solidFill>
          <a:ln w="1778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49423" y="3364992"/>
            <a:ext cx="13075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F0F4FF"/>
                </a:solidFill>
                <a:latin typeface="Calibri"/>
              </a:rPr>
              <a:t>Preprocessing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7711" y="3712464"/>
            <a:ext cx="12710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850" b="0" i="0">
                <a:solidFill>
                  <a:srgbClr val="94A3B8"/>
                </a:solidFill>
                <a:latin typeface="Calibri"/>
              </a:rPr>
              <a:t>Sensoren/Nacht gemerged (Nearest-TS)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79" y="3566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199" y="3218688"/>
            <a:ext cx="1417319" cy="1078992"/>
          </a:xfrm>
          <a:prstGeom prst="roundRect">
            <a:avLst>
              <a:gd name="adj" fmla="val 10000"/>
            </a:avLst>
          </a:prstGeom>
          <a:solidFill>
            <a:srgbClr val="1A2356"/>
          </a:solidFill>
          <a:ln w="1778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41063" y="3364992"/>
            <a:ext cx="13075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F0F4FF"/>
                </a:solidFill>
                <a:latin typeface="Calibri"/>
              </a:rPr>
              <a:t>Feature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9351" y="3712464"/>
            <a:ext cx="12710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850" b="0" i="0">
                <a:solidFill>
                  <a:srgbClr val="94A3B8"/>
                </a:solidFill>
                <a:latin typeface="Calibri"/>
              </a:rPr>
              <a:t>120 s/60 s-Fenster · 8 Stats/Kanal · SelectFromModel (RF)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19" y="3566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39" y="3218688"/>
            <a:ext cx="1417319" cy="1078992"/>
          </a:xfrm>
          <a:prstGeom prst="roundRect">
            <a:avLst>
              <a:gd name="adj" fmla="val 10000"/>
            </a:avLst>
          </a:prstGeom>
          <a:solidFill>
            <a:srgbClr val="1A2356"/>
          </a:solidFill>
          <a:ln w="1778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32703" y="3364992"/>
            <a:ext cx="13075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F0F4FF"/>
                </a:solidFill>
                <a:latin typeface="Calibri"/>
              </a:rPr>
              <a:t>Data Splitting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1" y="3712464"/>
            <a:ext cx="12710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850" b="0" i="0">
                <a:solidFill>
                  <a:srgbClr val="94A3B8"/>
                </a:solidFill>
                <a:latin typeface="Calibri"/>
              </a:rPr>
              <a:t>GroupKFold = Leave-one-night-out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3566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06B6D4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9479" y="3218688"/>
            <a:ext cx="1417319" cy="1078992"/>
          </a:xfrm>
          <a:prstGeom prst="roundRect">
            <a:avLst>
              <a:gd name="adj" fmla="val 10000"/>
            </a:avLst>
          </a:prstGeom>
          <a:solidFill>
            <a:srgbClr val="1A2356"/>
          </a:solidFill>
          <a:ln w="1778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24343" y="3364992"/>
            <a:ext cx="13075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F0F4FF"/>
                </a:solidFill>
                <a:latin typeface="Calibri"/>
              </a:rPr>
              <a:t>Bias-Check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2631" y="3712464"/>
            <a:ext cx="127101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850" b="0" i="0">
                <a:solidFill>
                  <a:srgbClr val="94A3B8"/>
                </a:solidFill>
                <a:latin typeface="Calibri"/>
              </a:rPr>
              <a:t>nur Bewegung · Zeit-Features raus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19" y="4343400"/>
            <a:ext cx="224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00" b="1" i="0" dirty="0">
                <a:solidFill>
                  <a:srgbClr val="F59E0B"/>
                </a:solidFill>
                <a:latin typeface="Calibri"/>
              </a:rPr>
              <a:t>Huawei → 64 Features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  </a:t>
            </a:r>
            <a:endParaRPr lang="de-DE" sz="900" dirty="0">
              <a:solidFill>
                <a:srgbClr val="64748B"/>
              </a:solidFill>
              <a:latin typeface="Calibri"/>
            </a:endParaRPr>
          </a:p>
          <a:p>
            <a:pPr algn="ctr">
              <a:spcBef>
                <a:spcPts val="0"/>
              </a:spcBef>
            </a:pPr>
            <a:r>
              <a:rPr sz="9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1" i="0" dirty="0">
                <a:solidFill>
                  <a:srgbClr val="3B82F6"/>
                </a:solidFill>
                <a:latin typeface="Calibri"/>
              </a:rPr>
              <a:t>Samsung → 32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82803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Sleep Classification · ML4B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F59E0B"/>
                </a:solidFill>
                <a:latin typeface="Calibri"/>
              </a:rPr>
              <a:t>MODELING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2800" b="1" i="0">
                <a:solidFill>
                  <a:srgbClr val="F0F4FF"/>
                </a:solidFill>
                <a:latin typeface="Cambria"/>
              </a:rPr>
              <a:t>Schlaf/Wach </a:t>
            </a:r>
            <a:r>
              <a:rPr sz="2800" b="1" i="0">
                <a:solidFill>
                  <a:srgbClr val="10B981"/>
                </a:solidFill>
                <a:latin typeface="Cambria"/>
              </a:rPr>
              <a:t>ja</a:t>
            </a:r>
            <a:r>
              <a:rPr sz="2800" b="1" i="0">
                <a:solidFill>
                  <a:srgbClr val="F0F4FF"/>
                </a:solidFill>
                <a:latin typeface="Cambria"/>
              </a:rPr>
              <a:t> — Schlafphasen </a:t>
            </a:r>
            <a:r>
              <a:rPr sz="2800" b="1" i="0">
                <a:solidFill>
                  <a:srgbClr val="F43F5E"/>
                </a:solidFill>
                <a:latin typeface="Cambria"/>
              </a:rPr>
              <a:t>nein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0F4FF"/>
                </a:solidFill>
                <a:latin typeface="Calibri"/>
              </a:rPr>
              <a:t>Random Forest</a:t>
            </a:r>
            <a:r>
              <a:rPr sz="1300" b="0" i="0">
                <a:solidFill>
                  <a:srgbClr val="94A3B8"/>
                </a:solidFill>
                <a:latin typeface="Calibri"/>
              </a:rPr>
              <a:t>   ·   Leave-one-night-out-Validierung   ·   10 Nächte</a:t>
            </a:r>
          </a:p>
        </p:txBody>
      </p:sp>
      <p:pic>
        <p:nvPicPr>
          <p:cNvPr id="6" name="Picture 5" descr="cyc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6" y="310896"/>
            <a:ext cx="2461918" cy="1188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572768"/>
            <a:ext cx="2615184" cy="1938528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719072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59E0B"/>
                </a:solidFill>
                <a:latin typeface="Calibri"/>
              </a:rPr>
              <a:t>Binär · grobe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029967"/>
            <a:ext cx="22494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59E0B"/>
                </a:solidFill>
                <a:latin typeface="Cambria"/>
              </a:rPr>
              <a:t>0,98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523744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alibr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797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950" b="1" i="0">
                <a:solidFill>
                  <a:srgbClr val="F59E0B"/>
                </a:solidFill>
                <a:latin typeface="Calibri"/>
              </a:rPr>
              <a:t>Labels von Hand gesetzt — grob („im Bett“)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1272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alibri"/>
              </a:rPr>
              <a:t>Wirkt fast perfekt, misst aber nur Ruhe.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1572768"/>
            <a:ext cx="2615184" cy="1938528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3864" y="1719072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0B981"/>
                </a:solidFill>
                <a:latin typeface="Calibri"/>
              </a:rPr>
              <a:t>Binär · Uhr-Labels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29967"/>
            <a:ext cx="22494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10B981"/>
                </a:solidFill>
                <a:latin typeface="Cambria"/>
              </a:rPr>
              <a:t>0,60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523744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alibri"/>
              </a:rPr>
              <a:t>Balanced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7797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950" b="1" i="0">
                <a:solidFill>
                  <a:srgbClr val="10B981"/>
                </a:solidFill>
                <a:latin typeface="Calibri"/>
              </a:rPr>
              <a:t>Labels aus der Uhr (Samsung) — präzise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1272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alibri"/>
              </a:rPr>
              <a:t>Realistischer Wert für echte Trennung.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5896" y="1572768"/>
            <a:ext cx="2615184" cy="1938528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1719072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43F5E"/>
                </a:solidFill>
                <a:latin typeface="Calibri"/>
              </a:rPr>
              <a:t>4 Klassen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029967"/>
            <a:ext cx="22494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43F5E"/>
                </a:solidFill>
                <a:latin typeface="Cambria"/>
              </a:rPr>
              <a:t>0,24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523744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alibri"/>
              </a:rPr>
              <a:t>Balanced Acc · Macro-F1 0,21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77977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950" b="1" i="1">
                <a:solidFill>
                  <a:srgbClr val="F43F5E"/>
                </a:solidFill>
                <a:latin typeface="Calibri"/>
              </a:rPr>
              <a:t>tippt stets „Leicht“ (unter Zufall 0,25)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1272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950" b="0" i="0">
                <a:solidFill>
                  <a:srgbClr val="94A3B8"/>
                </a:solidFill>
                <a:latin typeface="Calibri"/>
              </a:rPr>
              <a:t>Phasen = Hirnaktivität, nicht Bewegung.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39312"/>
            <a:ext cx="8138160" cy="932688"/>
          </a:xfrm>
          <a:prstGeom prst="roundRect">
            <a:avLst>
              <a:gd name="adj" fmla="val 10000"/>
            </a:avLst>
          </a:prstGeom>
          <a:solidFill>
            <a:srgbClr val="111840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8"/>
            <a:ext cx="75895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3B82F6"/>
                </a:solidFill>
                <a:latin typeface="Calibri"/>
              </a:rPr>
              <a:t>RQ1 · </a:t>
            </a:r>
            <a:r>
              <a:rPr sz="1150" b="0" i="0">
                <a:solidFill>
                  <a:srgbClr val="F0F4FF"/>
                </a:solidFill>
                <a:latin typeface="Calibri"/>
              </a:rPr>
              <a:t>Schlaf/Wach ist machbar, aber labelabhängig — grobe Labels 0,98 vs. präzise Uhr-Labels 0,60.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8B5CF6"/>
                </a:solidFill>
                <a:latin typeface="Calibri"/>
              </a:rPr>
              <a:t>RQ2 · </a:t>
            </a:r>
            <a:r>
              <a:rPr sz="1150" b="0" i="0">
                <a:solidFill>
                  <a:srgbClr val="F0F4FF"/>
                </a:solidFill>
                <a:latin typeface="Calibri"/>
              </a:rPr>
              <a:t>Vier Schlafphasen sind aus Bewegung allein nicht erkennbar — Herz- &amp; Atemdaten nötig.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82803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Sleep Classification · ML4B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2062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 spc="320">
                <a:solidFill>
                  <a:srgbClr val="F43F5E"/>
                </a:solidFill>
                <a:latin typeface="Calibri"/>
              </a:rPr>
              <a:t>DISKUSSION &amp; AUSBLICK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>
                <a:solidFill>
                  <a:srgbClr val="F0F4FF"/>
                </a:solidFill>
                <a:latin typeface="Cambria"/>
              </a:rPr>
              <a:t>Erkenntnisse </a:t>
            </a:r>
            <a:r>
              <a:rPr sz="3400" b="1" i="0">
                <a:solidFill>
                  <a:srgbClr val="9FB4E8"/>
                </a:solidFill>
                <a:latin typeface="Cambria"/>
              </a:rPr>
              <a:t>&amp; Ausblick</a:t>
            </a:r>
          </a:p>
        </p:txBody>
      </p:sp>
      <p:pic>
        <p:nvPicPr>
          <p:cNvPr id="5" name="Picture 4" descr="cyc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6" y="310896"/>
            <a:ext cx="2461918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517904"/>
            <a:ext cx="2615184" cy="2340864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85800" y="1664208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664208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1700784"/>
            <a:ext cx="17922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0F4FF"/>
                </a:solidFill>
                <a:latin typeface="Calibri"/>
              </a:rPr>
              <a:t>Erkenntnisse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157984" cy="1389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Schlafphasen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aus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Handydaten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allein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: nicht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erkennbar</a:t>
            </a:r>
            <a:r>
              <a:rPr lang="de-DE" sz="1050" b="0" i="0" dirty="0">
                <a:solidFill>
                  <a:srgbClr val="94A3B8"/>
                </a:solidFill>
                <a:latin typeface="Calibri"/>
              </a:rPr>
              <a:t>.</a:t>
            </a:r>
            <a:endParaRPr sz="1050" b="0" i="0" dirty="0">
              <a:solidFill>
                <a:srgbClr val="94A3B8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Hohe Accuracy (0,98)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entsteht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durch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grobe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händische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Labels</a:t>
            </a:r>
            <a:r>
              <a:rPr lang="de-DE" sz="1050" b="0" i="0" dirty="0">
                <a:solidFill>
                  <a:srgbClr val="94A3B8"/>
                </a:solidFill>
                <a:latin typeface="Calibri"/>
              </a:rPr>
              <a:t>.</a:t>
            </a:r>
            <a:endParaRPr sz="1050" b="0" i="0" dirty="0">
              <a:solidFill>
                <a:srgbClr val="94A3B8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Grobe Ruhe-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Erkennung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funktioniert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dagegen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zuverlässig</a:t>
            </a:r>
            <a:r>
              <a:rPr lang="de-DE" sz="1050" b="0" i="0" dirty="0">
                <a:solidFill>
                  <a:srgbClr val="94A3B8"/>
                </a:solidFill>
                <a:latin typeface="Calibri"/>
              </a:rPr>
              <a:t>.</a:t>
            </a:r>
            <a:endParaRPr sz="1050" b="0" i="0" dirty="0">
              <a:solidFill>
                <a:srgbClr val="94A3B8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10B981"/>
                </a:solidFill>
                <a:latin typeface="Calibri"/>
              </a:rPr>
              <a:t>• 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Präzise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Labels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zählen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so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viel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wie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das Modell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selbst</a:t>
            </a:r>
            <a:r>
              <a:rPr lang="de-DE" sz="1050" b="0" i="0" dirty="0">
                <a:solidFill>
                  <a:srgbClr val="94A3B8"/>
                </a:solidFill>
                <a:latin typeface="Calibri"/>
              </a:rPr>
              <a:t>.</a:t>
            </a:r>
            <a:endParaRPr sz="105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264408" y="1517904"/>
            <a:ext cx="2615184" cy="2340864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47288" y="1664208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8416" y="1664208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1064" y="1700784"/>
            <a:ext cx="17922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0F4FF"/>
                </a:solidFill>
                <a:latin typeface="Calibri"/>
              </a:rPr>
              <a:t>Limitationen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194560"/>
            <a:ext cx="2157984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10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Nächte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· 2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Personen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—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schmale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Datenbasis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Samsung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schätzt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Labels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selbst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(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kein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EEG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als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Ground Truth).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 dirty="0">
                <a:solidFill>
                  <a:srgbClr val="F59E0B"/>
                </a:solidFill>
                <a:latin typeface="Calibri"/>
              </a:rPr>
              <a:t>•  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Samsung-Track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nur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Accel — 32 </a:t>
            </a:r>
            <a:r>
              <a:rPr sz="1050" b="0" i="0" dirty="0" err="1">
                <a:solidFill>
                  <a:srgbClr val="94A3B8"/>
                </a:solidFill>
                <a:latin typeface="Calibri"/>
              </a:rPr>
              <a:t>statt</a:t>
            </a:r>
            <a:r>
              <a:rPr sz="1050" b="0" i="0" dirty="0">
                <a:solidFill>
                  <a:srgbClr val="94A3B8"/>
                </a:solidFill>
                <a:latin typeface="Calibri"/>
              </a:rPr>
              <a:t> 64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1517904"/>
            <a:ext cx="2615184" cy="2340864"/>
          </a:xfrm>
          <a:prstGeom prst="roundRect">
            <a:avLst>
              <a:gd name="adj" fmla="val 6000"/>
            </a:avLst>
          </a:prstGeom>
          <a:solidFill>
            <a:srgbClr val="1A2356"/>
          </a:solidFill>
          <a:ln>
            <a:noFill/>
          </a:ln>
          <a:effectLst>
            <a:outerShdw blurRad="90000" dist="45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08776" y="1664208"/>
            <a:ext cx="402336" cy="40233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9904" y="1664208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1700784"/>
            <a:ext cx="179222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0F4FF"/>
                </a:solidFill>
                <a:latin typeface="Calibri"/>
              </a:rPr>
              <a:t>Future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94560"/>
            <a:ext cx="2157984" cy="1591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Herzfrequenz / HRV als Zusatzsensor.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Audioaufnahme über das Handy-Mikrofon.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Mehr Personen &amp; Geräte für Robustheit.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94A3B8"/>
                </a:solidFill>
                <a:latin typeface="Calibri"/>
              </a:rPr>
              <a:t>On-Device Deployment (Android API).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41648"/>
            <a:ext cx="8138160" cy="676656"/>
          </a:xfrm>
          <a:prstGeom prst="roundRect">
            <a:avLst>
              <a:gd name="adj" fmla="val 14000"/>
            </a:avLst>
          </a:prstGeom>
          <a:solidFill>
            <a:srgbClr val="111840"/>
          </a:solidFill>
          <a:ln w="1905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041648"/>
            <a:ext cx="81381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F43F5E"/>
                </a:solidFill>
                <a:latin typeface="Calibri"/>
              </a:rPr>
              <a:t>LIVE-DEMO</a:t>
            </a:r>
            <a:r>
              <a:rPr sz="1250" b="0" i="0">
                <a:solidFill>
                  <a:srgbClr val="F0F4FF"/>
                </a:solidFill>
                <a:latin typeface="Calibri"/>
              </a:rPr>
              <a:t>       Eigene Nacht aufnehmen   →   Upload (CSV / ZIP)   →   Schlafphasen-Vorhersage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28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Johannes Burkhardt   ·   Anshul Agrawal   ·   Danylo Lypskyi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82803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64748B"/>
                </a:solidFill>
                <a:latin typeface="Calibri"/>
              </a:rPr>
              <a:t>Sleep Classification · ML4B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Macintosh PowerPoint</Application>
  <PresentationFormat>Bildschirmpräsentation (16:9)</PresentationFormat>
  <Paragraphs>95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Burkhardt, Johannes</cp:lastModifiedBy>
  <cp:revision>2</cp:revision>
  <dcterms:created xsi:type="dcterms:W3CDTF">2013-01-27T09:14:16Z</dcterms:created>
  <dcterms:modified xsi:type="dcterms:W3CDTF">2026-06-25T21:36:04Z</dcterms:modified>
  <cp:category/>
</cp:coreProperties>
</file>