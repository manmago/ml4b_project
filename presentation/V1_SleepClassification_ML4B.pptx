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10"/>
  </p:normalViewPr>
  <p:slideViewPr>
    <p:cSldViewPr snapToGrid="0" snapToObjects="1">
      <p:cViewPr>
        <p:scale>
          <a:sx n="127" d="100"/>
          <a:sy n="127" d="100"/>
        </p:scale>
        <p:origin x="1392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6583680" y="-594360"/>
            <a:ext cx="4297680" cy="4297680"/>
          </a:xfrm>
          <a:prstGeom prst="ellipse">
            <a:avLst/>
          </a:prstGeom>
          <a:solidFill>
            <a:srgbClr val="0D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799" y="-868680"/>
            <a:ext cx="4937760" cy="4937760"/>
          </a:xfrm>
          <a:prstGeom prst="ellipse">
            <a:avLst/>
          </a:prstGeom>
          <a:noFill/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7999" y="365760"/>
            <a:ext cx="3108960" cy="3108960"/>
          </a:xfrm>
          <a:prstGeom prst="ellipse">
            <a:avLst/>
          </a:prstGeom>
          <a:noFill/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92440" y="2971799"/>
            <a:ext cx="2011680" cy="2011680"/>
          </a:xfrm>
          <a:prstGeom prst="ellipse">
            <a:avLst/>
          </a:prstGeom>
          <a:noFill/>
          <a:ln w="1524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740664"/>
            <a:ext cx="6583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 dirty="0">
                <a:solidFill>
                  <a:srgbClr val="3B82F6"/>
                </a:solidFill>
                <a:latin typeface="Calibri"/>
              </a:rPr>
              <a:t>ML4B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1" i="0">
                <a:solidFill>
                  <a:srgbClr val="F0F4FF"/>
                </a:solidFill>
                <a:latin typeface="Cambria"/>
              </a:rPr>
              <a:t>Sleep Classification </a:t>
            </a:r>
            <a:r>
              <a:rPr sz="4400" b="1" i="0">
                <a:solidFill>
                  <a:srgbClr val="9FB4E8"/>
                </a:solidFill>
                <a:latin typeface="Cambria"/>
              </a:rPr>
              <a:t>with
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78892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 i="0">
                <a:solidFill>
                  <a:srgbClr val="94A3B8"/>
                </a:solidFill>
                <a:latin typeface="Calibri"/>
              </a:rPr>
              <a:t>Schlafphasen aus Smartphone-Sensordaten klassifizieren — 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 i="0">
                <a:solidFill>
                  <a:srgbClr val="94A3B8"/>
                </a:solidFill>
                <a:latin typeface="Calibri"/>
              </a:rPr>
              <a:t>validiert gegen echte Samsung-Health-Labels.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59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220">
                <a:solidFill>
                  <a:srgbClr val="06B6D4"/>
                </a:solidFill>
                <a:latin typeface="Calibri"/>
              </a:rPr>
              <a:t>VORGESTELLT VON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794759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0F4FF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220">
                <a:solidFill>
                  <a:srgbClr val="06B6D4"/>
                </a:solidFill>
                <a:latin typeface="Calibri"/>
              </a:rPr>
              <a:t>MODELL &amp; PROJEKT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196203"/>
            <a:ext cx="61264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de-DE" sz="1200" b="1" dirty="0">
                <a:solidFill>
                  <a:srgbClr val="F0F4FF"/>
                </a:solidFill>
              </a:rPr>
              <a:t>Sieber </a:t>
            </a:r>
            <a:r>
              <a:rPr sz="1200" b="1" i="0" dirty="0">
                <a:solidFill>
                  <a:srgbClr val="F0F4FF"/>
                </a:solidFill>
                <a:latin typeface="Calibri"/>
              </a:rPr>
              <a:t>Mirani &amp;   Alexandra </a:t>
            </a:r>
            <a:r>
              <a:rPr sz="1200" b="1" i="0" dirty="0" err="1">
                <a:solidFill>
                  <a:srgbClr val="F0F4FF"/>
                </a:solidFill>
                <a:latin typeface="Calibri"/>
              </a:rPr>
              <a:t>Itenberg</a:t>
            </a:r>
            <a:endParaRPr sz="1200" b="1" i="0" dirty="0">
              <a:solidFill>
                <a:srgbClr val="F0F4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8B5CF6"/>
                </a:solidFill>
                <a:latin typeface="Calibr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Das Problem &amp;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unser Ansatz</a:t>
            </a:r>
          </a:p>
        </p:txBody>
      </p:sp>
      <p:pic>
        <p:nvPicPr>
          <p:cNvPr id="5" name="Picture 4" descr="cyc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554480"/>
            <a:ext cx="3931920" cy="1188720"/>
          </a:xfrm>
          <a:prstGeom prst="roundRect">
            <a:avLst>
              <a:gd name="adj" fmla="val 7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6" y="170992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Kaum jemand besitzt eine Smartwatch, fast jeder ein Smartphone — Schlaftracking ohne Wearable fehlt.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554480"/>
            <a:ext cx="3931920" cy="1188720"/>
          </a:xfrm>
          <a:prstGeom prst="roundRect">
            <a:avLst>
              <a:gd name="adj" fmla="val 7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82896" y="170992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719072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Unser Ansatz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76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Random Forest erkennt Schlaf aus 100-Hz-Beschleunigung, validiert gegen echte Samsung-Health-Labels.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62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 spc="260">
                <a:solidFill>
                  <a:srgbClr val="64748B"/>
                </a:solidFill>
                <a:latin typeface="Calibri"/>
              </a:rPr>
              <a:t>FORSCHUNGSFRAGEN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73552"/>
            <a:ext cx="2651760" cy="1225296"/>
          </a:xfrm>
          <a:prstGeom prst="roundRect">
            <a:avLst>
              <a:gd name="adj" fmla="val 8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43814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3B82F6"/>
                </a:solidFill>
                <a:latin typeface="Cambria"/>
              </a:rPr>
              <a:t>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822191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 dirty="0">
                <a:solidFill>
                  <a:srgbClr val="F0F4FF"/>
                </a:solidFill>
                <a:latin typeface="Calibri"/>
              </a:rPr>
              <a:t>Wach vs. Schlaf </a:t>
            </a:r>
            <a:r>
              <a:rPr sz="1150" b="0" i="0" dirty="0" err="1">
                <a:solidFill>
                  <a:srgbClr val="F0F4FF"/>
                </a:solidFill>
                <a:latin typeface="Calibri"/>
              </a:rPr>
              <a:t>aus</a:t>
            </a:r>
            <a:r>
              <a:rPr sz="1150" b="0" i="0" dirty="0">
                <a:solidFill>
                  <a:srgbClr val="F0F4FF"/>
                </a:solidFill>
                <a:latin typeface="Calibri"/>
              </a:rPr>
              <a:t> dem Accelerometer </a:t>
            </a:r>
            <a:r>
              <a:rPr sz="1150" b="0" i="0" dirty="0" err="1">
                <a:solidFill>
                  <a:srgbClr val="F0F4FF"/>
                </a:solidFill>
                <a:latin typeface="Calibri"/>
              </a:rPr>
              <a:t>mit</a:t>
            </a:r>
            <a:r>
              <a:rPr sz="1150" b="0" i="0" dirty="0">
                <a:solidFill>
                  <a:srgbClr val="F0F4FF"/>
                </a:solidFill>
                <a:latin typeface="Calibri"/>
              </a:rPr>
              <a:t> ≥ 75 % Accuracy?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39" y="3273552"/>
            <a:ext cx="2651760" cy="1225296"/>
          </a:xfrm>
          <a:prstGeom prst="roundRect">
            <a:avLst>
              <a:gd name="adj" fmla="val 8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93008" y="343814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06B6D4"/>
                </a:solidFill>
                <a:latin typeface="Cambria"/>
              </a:rPr>
              <a:t>RQ2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822191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F0F4FF"/>
                </a:solidFill>
                <a:latin typeface="Calibri"/>
              </a:rPr>
              <a:t>Lässt sich Schlafdauer &amp; -qualität valide schätzen?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3273552"/>
            <a:ext cx="2651760" cy="1225296"/>
          </a:xfrm>
          <a:prstGeom prst="roundRect">
            <a:avLst>
              <a:gd name="adj" fmla="val 8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7" y="343814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8B5CF6"/>
                </a:solidFill>
                <a:latin typeface="Cambria"/>
              </a:rPr>
              <a:t>RQ3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7" y="3822191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F0F4FF"/>
                </a:solidFill>
                <a:latin typeface="Calibri"/>
              </a:rPr>
              <a:t>Wo liegt die physiologische Grenze der 4-Phasen-Erkennung ohne Herzfrequenz?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06B6D4"/>
                </a:solidFill>
                <a:latin typeface="Calibri"/>
              </a:rPr>
              <a:t>DATA UNDERSTANDING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Von Rohdaten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zu Features</a:t>
            </a:r>
          </a:p>
        </p:txBody>
      </p:sp>
      <p:pic>
        <p:nvPicPr>
          <p:cNvPr id="5" name="Picture 4" descr="cyc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538" y="310896"/>
            <a:ext cx="2597685" cy="11887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21208" y="1472184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47218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1790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Data Understanding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3931920" cy="877824"/>
          </a:xfrm>
          <a:prstGeom prst="roundRect">
            <a:avLst>
              <a:gd name="adj" fmla="val 8000"/>
            </a:avLst>
          </a:prstGeom>
          <a:solidFill>
            <a:srgbClr val="1A2356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6656" y="216712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59E0B"/>
                </a:solidFill>
                <a:latin typeface="Calibri"/>
              </a:rPr>
              <a:t>Smartphone-Track · Huawei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32304"/>
            <a:ext cx="3547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Accel + Gyroscope · grobe In-Bett-Labels · 5 Nächte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975104"/>
            <a:ext cx="3931920" cy="877824"/>
          </a:xfrm>
          <a:prstGeom prst="roundRect">
            <a:avLst>
              <a:gd name="adj" fmla="val 8000"/>
            </a:avLst>
          </a:prstGeom>
          <a:solidFill>
            <a:srgbClr val="1A2356"/>
          </a:solidFill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82896" y="2167128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48072" y="2130552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B82F6"/>
                </a:solidFill>
                <a:latin typeface="Calibri"/>
              </a:rPr>
              <a:t>Referenz-Track · Samsung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432304"/>
            <a:ext cx="3547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Accel-only · echte Per-Fenster-Labels · 100 Hz · 5 Nächte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3081528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3081528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12724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Data Preparation —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1455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1" i="0">
                <a:solidFill>
                  <a:srgbClr val="06B6D4"/>
                </a:solidFill>
                <a:latin typeface="Calibri"/>
              </a:rPr>
              <a:t>■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Data Preparation   </a:t>
            </a:r>
            <a:r>
              <a:rPr sz="1000" b="1" i="0">
                <a:solidFill>
                  <a:srgbClr val="64748B"/>
                </a:solidFill>
                <a:latin typeface="Calibri"/>
              </a:rPr>
              <a:t>■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Kontext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02736"/>
            <a:ext cx="1335024" cy="932688"/>
          </a:xfrm>
          <a:prstGeom prst="roundRect">
            <a:avLst>
              <a:gd name="adj" fmla="val 10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3803904"/>
            <a:ext cx="1225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150" b="1" i="0">
                <a:solidFill>
                  <a:srgbClr val="94A3B8"/>
                </a:solidFill>
                <a:latin typeface="Calibri"/>
              </a:rPr>
              <a:t>Rohdaten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64748B"/>
                </a:solidFill>
                <a:latin typeface="Calibri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7943" y="3877056"/>
            <a:ext cx="37718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5133" y="3602736"/>
            <a:ext cx="1335024" cy="932688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2032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69997" y="3803904"/>
            <a:ext cx="1225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150" b="1" i="0" dirty="0">
                <a:solidFill>
                  <a:srgbClr val="F0F4FF"/>
                </a:solidFill>
                <a:latin typeface="Calibri"/>
              </a:rPr>
              <a:t>Sliding Window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000" b="0" i="0" dirty="0">
                <a:solidFill>
                  <a:srgbClr val="06B6D4"/>
                </a:solidFill>
                <a:latin typeface="Calibri"/>
              </a:rPr>
              <a:t>120 s / 60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157" y="3877056"/>
            <a:ext cx="37718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27347" y="3602736"/>
            <a:ext cx="1335024" cy="932688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2032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82211" y="3803904"/>
            <a:ext cx="1225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150" b="1" i="0">
                <a:solidFill>
                  <a:srgbClr val="F0F4FF"/>
                </a:solidFill>
                <a:latin typeface="Calibri"/>
              </a:rPr>
              <a:t>Feature Extraction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06B6D4"/>
                </a:solidFill>
                <a:latin typeface="Calibri"/>
              </a:rPr>
              <a:t>8 Stats / Kanal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2371" y="3877056"/>
            <a:ext cx="37718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39561" y="3602736"/>
            <a:ext cx="1335024" cy="932688"/>
          </a:xfrm>
          <a:prstGeom prst="roundRect">
            <a:avLst>
              <a:gd name="adj" fmla="val 10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94425" y="3803904"/>
            <a:ext cx="1225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150" b="1" i="0">
                <a:solidFill>
                  <a:srgbClr val="94A3B8"/>
                </a:solidFill>
                <a:latin typeface="Calibri"/>
              </a:rPr>
              <a:t>RF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64748B"/>
                </a:solidFill>
                <a:latin typeface="Calibri"/>
              </a:rPr>
              <a:t>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4585" y="3877056"/>
            <a:ext cx="37718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1775" y="3602736"/>
            <a:ext cx="1335024" cy="932688"/>
          </a:xfrm>
          <a:prstGeom prst="roundRect">
            <a:avLst>
              <a:gd name="adj" fmla="val 10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0" y="3803904"/>
            <a:ext cx="1225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150" b="1" i="0">
                <a:solidFill>
                  <a:srgbClr val="94A3B8"/>
                </a:solidFill>
                <a:latin typeface="Calibri"/>
              </a:rPr>
              <a:t>Streamlit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64748B"/>
                </a:solidFill>
                <a:latin typeface="Calibri"/>
              </a:rPr>
              <a:t>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5133" y="4581144"/>
            <a:ext cx="304723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 i="0" dirty="0">
                <a:solidFill>
                  <a:srgbClr val="F59E0B"/>
                </a:solidFill>
                <a:latin typeface="Calibri"/>
              </a:rPr>
              <a:t>Huawei → 64 Features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  ·</a:t>
            </a:r>
            <a:r>
              <a:rPr lang="de-DE" sz="950" b="0" i="0" dirty="0">
                <a:solidFill>
                  <a:srgbClr val="64748B"/>
                </a:solidFill>
                <a:latin typeface="Calibri"/>
              </a:rPr>
              <a:t>.         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  </a:t>
            </a:r>
            <a:r>
              <a:rPr sz="950" b="1" i="0" dirty="0">
                <a:solidFill>
                  <a:srgbClr val="3B82F6"/>
                </a:solidFill>
                <a:latin typeface="Calibri"/>
              </a:rPr>
              <a:t>Samsung → 32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F59E0B"/>
                </a:solidFill>
                <a:latin typeface="Calibri"/>
              </a:rPr>
              <a:t>MODELING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6492240" cy="411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2800" b="1" i="0" dirty="0">
                <a:solidFill>
                  <a:srgbClr val="F0F4FF"/>
                </a:solidFill>
                <a:latin typeface="Cambria"/>
              </a:rPr>
              <a:t>Schlaf/Wach </a:t>
            </a:r>
            <a:r>
              <a:rPr sz="2800" b="1" i="0" dirty="0">
                <a:solidFill>
                  <a:srgbClr val="10B981"/>
                </a:solidFill>
                <a:latin typeface="Cambria"/>
              </a:rPr>
              <a:t>j</a:t>
            </a:r>
            <a:r>
              <a:rPr lang="de-DE" sz="2800" b="1" i="0" dirty="0">
                <a:solidFill>
                  <a:srgbClr val="10B981"/>
                </a:solidFill>
                <a:latin typeface="Cambria"/>
              </a:rPr>
              <a:t>o</a:t>
            </a:r>
            <a:r>
              <a:rPr sz="2800" b="1" i="0" dirty="0">
                <a:solidFill>
                  <a:srgbClr val="10B981"/>
                </a:solidFill>
                <a:latin typeface="Cambria"/>
              </a:rPr>
              <a:t>a</a:t>
            </a:r>
            <a:r>
              <a:rPr sz="2800" b="1" i="0" dirty="0">
                <a:solidFill>
                  <a:srgbClr val="F0F4FF"/>
                </a:solidFill>
                <a:latin typeface="Cambria"/>
              </a:rPr>
              <a:t> — </a:t>
            </a:r>
            <a:r>
              <a:rPr sz="2800" b="1" i="0" dirty="0" err="1">
                <a:solidFill>
                  <a:srgbClr val="F0F4FF"/>
                </a:solidFill>
                <a:latin typeface="Cambria"/>
              </a:rPr>
              <a:t>Schlafphasen</a:t>
            </a:r>
            <a:r>
              <a:rPr sz="2800" b="1" i="0" dirty="0">
                <a:solidFill>
                  <a:srgbClr val="F0F4FF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F43F5E"/>
                </a:solidFill>
                <a:latin typeface="Cambria"/>
              </a:rPr>
              <a:t>nein</a:t>
            </a:r>
            <a:endParaRPr sz="2800" b="1" i="0" dirty="0">
              <a:solidFill>
                <a:srgbClr val="F43F5E"/>
              </a:solidFill>
              <a:latin typeface="Cambria"/>
            </a:endParaRPr>
          </a:p>
        </p:txBody>
      </p:sp>
      <p:pic>
        <p:nvPicPr>
          <p:cNvPr id="5" name="Picture 4" descr="cyc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517904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70078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0B981"/>
                </a:solidFill>
                <a:latin typeface="Calibri"/>
              </a:rPr>
              <a:t>Binär · Schlaf vs. Wach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84831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 dirty="0">
                <a:solidFill>
                  <a:srgbClr val="10B981"/>
                </a:solidFill>
                <a:latin typeface="Cambria"/>
              </a:rPr>
              <a:t>0,60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786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Balanced Accuracy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reale Per-Fenster-Labels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21408"/>
            <a:ext cx="15544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0F4FF"/>
                </a:solidFill>
                <a:latin typeface="Calibri"/>
              </a:rPr>
              <a:t>Was funktioniert: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„Im Bett ruhend“ wird zuverlässig erkannt — im Alltag schon brauchbar.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108960"/>
            <a:ext cx="3456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Wer wach im Bett liegt, bewegt sich kaum — für den Sensor sieht das aus wie Schlaf.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517904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46904" y="170078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43F5E"/>
                </a:solidFill>
                <a:latin typeface="Calibri"/>
              </a:rPr>
              <a:t>4 Klassen · Wach/Leicht/Tief/REM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2084831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43F5E"/>
                </a:solidFill>
                <a:latin typeface="Cambria"/>
              </a:rPr>
              <a:t>0,24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5786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Balanced Accuracy · Macro-F1 0,21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F43F5E"/>
                </a:solidFill>
                <a:latin typeface="Calibri"/>
              </a:rPr>
              <a:t>unter Zufall (0,25) — tippt stets „Leicht“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21408"/>
            <a:ext cx="15544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0F4FF"/>
                </a:solidFill>
                <a:latin typeface="Calibri"/>
              </a:rPr>
              <a:t>Physiologische Grenze: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Tief, REM &amp; Leicht trennen sich in Hirnaktivität, Herzrate &amp; Atmung — nicht in Bewegung.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3108960"/>
            <a:ext cx="3456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 i="0" dirty="0">
                <a:solidFill>
                  <a:srgbClr val="94A3B8"/>
                </a:solidFill>
                <a:latin typeface="Calibri"/>
              </a:rPr>
              <a:t>Aus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reiner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Accelerometer-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Bewegung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fehlt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das Signal —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beantwortet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RQ3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klar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negativ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22191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111840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033143"/>
            <a:ext cx="7635240" cy="419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 dirty="0" err="1">
                <a:solidFill>
                  <a:srgbClr val="3B82F6"/>
                </a:solidFill>
                <a:latin typeface="Calibri"/>
              </a:rPr>
              <a:t>Kernbefund</a:t>
            </a:r>
            <a:r>
              <a:rPr sz="1250" b="1" i="0" dirty="0">
                <a:solidFill>
                  <a:srgbClr val="3B82F6"/>
                </a:solidFill>
                <a:latin typeface="Calibri"/>
              </a:rPr>
              <a:t>:  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Handy-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Bewegung</a:t>
            </a:r>
            <a:r>
              <a:rPr lang="de-DE" sz="1250" dirty="0">
                <a:solidFill>
                  <a:srgbClr val="F0F4FF"/>
                </a:solidFill>
                <a:latin typeface="Calibri"/>
              </a:rPr>
              <a:t> als limitierender Faktor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grobe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Ruhe</a:t>
            </a:r>
            <a:r>
              <a:rPr lang="de-DE"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-</a:t>
            </a:r>
            <a:r>
              <a:rPr lang="de-DE"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Erkennung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funktioniert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alles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Feinere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braucht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Zusatzsensoren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. Und Labels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wiegen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so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schwer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wie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 das Modell </a:t>
            </a:r>
            <a:r>
              <a:rPr sz="1250" b="0" i="0" dirty="0" err="1">
                <a:solidFill>
                  <a:srgbClr val="F0F4FF"/>
                </a:solidFill>
                <a:latin typeface="Calibri"/>
              </a:rPr>
              <a:t>selbst</a:t>
            </a:r>
            <a:r>
              <a:rPr sz="1250" b="0" i="0" dirty="0">
                <a:solidFill>
                  <a:srgbClr val="F0F4FF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F43F5E"/>
                </a:solidFill>
                <a:latin typeface="Calibri"/>
              </a:rPr>
              <a:t>DISKUSSION &amp; AUSBLICK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Erkenntnisse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&amp; Ausblick</a:t>
            </a:r>
          </a:p>
        </p:txBody>
      </p:sp>
      <p:pic>
        <p:nvPicPr>
          <p:cNvPr id="5" name="Picture 4" descr="cyc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1664208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Erkenntnisse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194560"/>
            <a:ext cx="2157984" cy="1147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Grobe Ruhe-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Erkennung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(„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im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Bett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ruhend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“)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klappt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zuverlässig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Feine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Schlafphasen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aus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Bewegung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allein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: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physiologisch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unmöglich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Label-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Qualität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entscheidet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—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bequeme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Labels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täuschen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0,985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vor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47288" y="166420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8416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Limitationen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194560"/>
            <a:ext cx="2157984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10 Nächte · 2 Personen — schmale Datenbasis.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Samsung schätzt Labels selbst (kein EEG als Ground Truth).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Samsung-Track nur Accel — 32 statt 64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08776" y="1664208"/>
            <a:ext cx="402336" cy="40233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9904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Future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94560"/>
            <a:ext cx="2157984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Herzfrequenz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/ HRV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als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Zusatzsensor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Mehr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Personen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&amp;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Geräte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für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Robustheit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FFT-Features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im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Frequenzbereich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On-Device Deployment (Android API).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41648"/>
            <a:ext cx="8138160" cy="676656"/>
          </a:xfrm>
          <a:prstGeom prst="roundRect">
            <a:avLst>
              <a:gd name="adj" fmla="val 14000"/>
            </a:avLst>
          </a:prstGeom>
          <a:solidFill>
            <a:srgbClr val="111840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41648"/>
            <a:ext cx="8138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F43F5E"/>
                </a:solidFill>
                <a:latin typeface="Calibri"/>
              </a:rPr>
              <a:t>LIVE-DEMO</a:t>
            </a:r>
            <a:r>
              <a:rPr sz="1250" b="0" i="0">
                <a:solidFill>
                  <a:srgbClr val="F0F4FF"/>
                </a:solidFill>
                <a:latin typeface="Calibri"/>
              </a:rPr>
              <a:t>       Eigene Nacht aufnehmen   →   Upload (CSV / ZIP)   →   Schlafphasen-Vorhersage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4EB771ECEEEA49B7903FF12BDB597B" ma:contentTypeVersion="7" ma:contentTypeDescription="Ein neues Dokument erstellen." ma:contentTypeScope="" ma:versionID="67979fb5e5cd2a83d2e384523bd37fc6">
  <xsd:schema xmlns:xsd="http://www.w3.org/2001/XMLSchema" xmlns:xs="http://www.w3.org/2001/XMLSchema" xmlns:p="http://schemas.microsoft.com/office/2006/metadata/properties" xmlns:ns2="f338003c-d30b-4a80-a1fb-0bbf2dbb9794" targetNamespace="http://schemas.microsoft.com/office/2006/metadata/properties" ma:root="true" ma:fieldsID="481dc78cc97e74a033580566d6b9b1f4" ns2:_="">
    <xsd:import namespace="f338003c-d30b-4a80-a1fb-0bbf2dbb9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38003c-d30b-4a80-a1fb-0bbf2dbb97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4B3762-3E26-4D50-8638-82E93145A543}"/>
</file>

<file path=customXml/itemProps2.xml><?xml version="1.0" encoding="utf-8"?>
<ds:datastoreItem xmlns:ds="http://schemas.openxmlformats.org/officeDocument/2006/customXml" ds:itemID="{9C8F3C6E-B390-4C2D-A023-C9CA6A2EDE09}"/>
</file>

<file path=customXml/itemProps3.xml><?xml version="1.0" encoding="utf-8"?>
<ds:datastoreItem xmlns:ds="http://schemas.openxmlformats.org/officeDocument/2006/customXml" ds:itemID="{89DEEE78-6547-4B1A-9168-D304D36A294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Macintosh PowerPoint</Application>
  <PresentationFormat>Bildschirmpräsentation (16:9)</PresentationFormat>
  <Paragraphs>93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Burkhardt, Johannes</cp:lastModifiedBy>
  <cp:revision>3</cp:revision>
  <dcterms:created xsi:type="dcterms:W3CDTF">2013-01-27T09:14:16Z</dcterms:created>
  <dcterms:modified xsi:type="dcterms:W3CDTF">2026-06-25T17:01:16Z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0x010100F74EB771ECEEEA49B7903FF12BDB597B</vt:lpwstr>
  </property>
</Properties>
</file>